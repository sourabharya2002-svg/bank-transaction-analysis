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8"/>
  </p:notesMasterIdLst>
  <p:sldIdLst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bank_transaction_project_dataset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bank_transaction_project_dataset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bank_transaction_project_dataset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bank_transaction_project_dataset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Credit vs Debit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1814794262795726E-2"/>
          <c:y val="0.11608666313344938"/>
          <c:w val="0.91829036735686576"/>
          <c:h val="0.84138802025684867"/>
        </c:manualLayout>
      </c:layout>
      <c:pie3DChart>
        <c:varyColors val="1"/>
        <c:ser>
          <c:idx val="0"/>
          <c:order val="0"/>
          <c:tx>
            <c:strRef>
              <c:f>Sheet1!$J$1</c:f>
              <c:strCache>
                <c:ptCount val="1"/>
                <c:pt idx="0">
                  <c:v>Total_amount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03F-44A6-9C42-65A5DF8A29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03F-44A6-9C42-65A5DF8A2982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Sheet1!$H$2:$H$3</c:f>
              <c:strCache>
                <c:ptCount val="2"/>
                <c:pt idx="0">
                  <c:v>Credit</c:v>
                </c:pt>
                <c:pt idx="1">
                  <c:v>Debit</c:v>
                </c:pt>
              </c:strCache>
            </c:strRef>
          </c:cat>
          <c:val>
            <c:numRef>
              <c:f>Sheet1!$J$2:$J$3</c:f>
              <c:numCache>
                <c:formatCode>General</c:formatCode>
                <c:ptCount val="2"/>
                <c:pt idx="0">
                  <c:v>38379669.7299999</c:v>
                </c:pt>
                <c:pt idx="1">
                  <c:v>36130323.689999998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3F-44A6-9C42-65A5DF8A29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City-wise Transaction</a:t>
            </a:r>
          </a:p>
        </c:rich>
      </c:tx>
      <c:layout>
        <c:manualLayout>
          <c:xMode val="edge"/>
          <c:yMode val="edge"/>
          <c:x val="0.37323156498365201"/>
          <c:y val="3.9054470123102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Total_transaction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/>
          </c:spPr>
          <c:invertIfNegative val="0"/>
          <c:cat>
            <c:strRef>
              <c:f>Sheet5!$A$2:$A$7</c:f>
              <c:strCache>
                <c:ptCount val="6"/>
                <c:pt idx="0">
                  <c:v>Pune</c:v>
                </c:pt>
                <c:pt idx="1">
                  <c:v>Chennai</c:v>
                </c:pt>
                <c:pt idx="2">
                  <c:v>Bangalore</c:v>
                </c:pt>
                <c:pt idx="3">
                  <c:v>Mumbai</c:v>
                </c:pt>
                <c:pt idx="4">
                  <c:v>Delhi</c:v>
                </c:pt>
                <c:pt idx="5">
                  <c:v>Hyderabad</c:v>
                </c:pt>
              </c:strCache>
            </c:strRef>
          </c:cat>
          <c:val>
            <c:numRef>
              <c:f>Sheet5!$B$2:$B$7</c:f>
              <c:numCache>
                <c:formatCode>General</c:formatCode>
                <c:ptCount val="6"/>
                <c:pt idx="0">
                  <c:v>268</c:v>
                </c:pt>
                <c:pt idx="1">
                  <c:v>258</c:v>
                </c:pt>
                <c:pt idx="2">
                  <c:v>261</c:v>
                </c:pt>
                <c:pt idx="3">
                  <c:v>264</c:v>
                </c:pt>
                <c:pt idx="4">
                  <c:v>241</c:v>
                </c:pt>
                <c:pt idx="5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5-4338-9CB0-3446F69CF9DB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Total_amount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/>
          </c:spPr>
          <c:invertIfNegative val="0"/>
          <c:cat>
            <c:strRef>
              <c:f>Sheet5!$A$2:$A$7</c:f>
              <c:strCache>
                <c:ptCount val="6"/>
                <c:pt idx="0">
                  <c:v>Pune</c:v>
                </c:pt>
                <c:pt idx="1">
                  <c:v>Chennai</c:v>
                </c:pt>
                <c:pt idx="2">
                  <c:v>Bangalore</c:v>
                </c:pt>
                <c:pt idx="3">
                  <c:v>Mumbai</c:v>
                </c:pt>
                <c:pt idx="4">
                  <c:v>Delhi</c:v>
                </c:pt>
                <c:pt idx="5">
                  <c:v>Hyderabad</c:v>
                </c:pt>
              </c:strCache>
            </c:strRef>
          </c:cat>
          <c:val>
            <c:numRef>
              <c:f>Sheet5!$C$2:$C$7</c:f>
              <c:numCache>
                <c:formatCode>General</c:formatCode>
                <c:ptCount val="6"/>
                <c:pt idx="0">
                  <c:v>13173795.74</c:v>
                </c:pt>
                <c:pt idx="1">
                  <c:v>12983000.329999899</c:v>
                </c:pt>
                <c:pt idx="2">
                  <c:v>12797740.85</c:v>
                </c:pt>
                <c:pt idx="3">
                  <c:v>12681747.970000001</c:v>
                </c:pt>
                <c:pt idx="4">
                  <c:v>12255671.6399999</c:v>
                </c:pt>
                <c:pt idx="5">
                  <c:v>10618036.890000001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05-4338-9CB0-3446F69CF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4277008"/>
        <c:axId val="24283728"/>
        <c:axId val="0"/>
      </c:bar3DChart>
      <c:catAx>
        <c:axId val="24277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83728"/>
        <c:crosses val="autoZero"/>
        <c:auto val="1"/>
        <c:lblAlgn val="ctr"/>
        <c:lblOffset val="100"/>
        <c:noMultiLvlLbl val="0"/>
      </c:catAx>
      <c:valAx>
        <c:axId val="2428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277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"Account-wise Balance Overview"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Sheet6!$A$1</c:f>
              <c:strCache>
                <c:ptCount val="1"/>
                <c:pt idx="0">
                  <c:v>Account_id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Sheet6!$A$2:$A$11</c:f>
              <c:numCache>
                <c:formatCode>General</c:formatCode>
                <c:ptCount val="10"/>
                <c:pt idx="0">
                  <c:v>1034</c:v>
                </c:pt>
                <c:pt idx="1">
                  <c:v>1126</c:v>
                </c:pt>
                <c:pt idx="2">
                  <c:v>1053</c:v>
                </c:pt>
                <c:pt idx="3">
                  <c:v>1155</c:v>
                </c:pt>
                <c:pt idx="4">
                  <c:v>1068</c:v>
                </c:pt>
                <c:pt idx="5">
                  <c:v>1081</c:v>
                </c:pt>
                <c:pt idx="6">
                  <c:v>1002</c:v>
                </c:pt>
                <c:pt idx="7">
                  <c:v>1108</c:v>
                </c:pt>
                <c:pt idx="8">
                  <c:v>1141</c:v>
                </c:pt>
                <c:pt idx="9">
                  <c:v>1194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0-4219-B2C2-3B11F9698C38}"/>
            </c:ext>
          </c:extLst>
        </c:ser>
        <c:ser>
          <c:idx val="1"/>
          <c:order val="1"/>
          <c:tx>
            <c:strRef>
              <c:f>Sheet6!$B$1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1"/>
          <c:val>
            <c:numRef>
              <c:f>Sheet6!$B$2:$B$11</c:f>
              <c:numCache>
                <c:formatCode>_ [$₹-439]* #,##0.00_ ;_ [$₹-439]* \-#,##0.00_ ;_ [$₹-439]* "-"??_ ;_ @_ </c:formatCode>
                <c:ptCount val="10"/>
                <c:pt idx="0">
                  <c:v>136666.92000000001</c:v>
                </c:pt>
                <c:pt idx="1">
                  <c:v>-92210.98</c:v>
                </c:pt>
                <c:pt idx="2">
                  <c:v>70842.429999999993</c:v>
                </c:pt>
                <c:pt idx="3">
                  <c:v>-280759.69</c:v>
                </c:pt>
                <c:pt idx="4">
                  <c:v>-170724.43</c:v>
                </c:pt>
                <c:pt idx="5">
                  <c:v>-200990.2</c:v>
                </c:pt>
                <c:pt idx="6">
                  <c:v>-171008.55</c:v>
                </c:pt>
                <c:pt idx="7">
                  <c:v>110793.91</c:v>
                </c:pt>
                <c:pt idx="8">
                  <c:v>-59289.69</c:v>
                </c:pt>
                <c:pt idx="9">
                  <c:v>-8461.94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  <a:ln>
                    <a:noFill/>
                  </a:ln>
                  <a:effectLst/>
                  <a:sp3d/>
                </c14:spPr>
              </c14:invertSolidFillFmt>
            </c:ext>
            <c:ext xmlns:c16="http://schemas.microsoft.com/office/drawing/2014/chart" uri="{C3380CC4-5D6E-409C-BE32-E72D297353CC}">
              <c16:uniqueId val="{00000001-1E00-4219-B2C2-3B11F9698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0"/>
        <c:shape val="box"/>
        <c:axId val="2051121328"/>
        <c:axId val="21930672"/>
        <c:axId val="0"/>
      </c:bar3DChart>
      <c:catAx>
        <c:axId val="2051121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Account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30672"/>
        <c:crosses val="autoZero"/>
        <c:auto val="1"/>
        <c:lblAlgn val="ctr"/>
        <c:lblOffset val="100"/>
        <c:noMultiLvlLbl val="0"/>
      </c:catAx>
      <c:valAx>
        <c:axId val="2193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Balance (₹)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1121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Customers by Account Balance</a:t>
            </a:r>
          </a:p>
        </c:rich>
      </c:tx>
      <c:layout>
        <c:manualLayout>
          <c:xMode val="edge"/>
          <c:yMode val="edge"/>
          <c:x val="0.13938103301860719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Sheet7!$A$1</c:f>
              <c:strCache>
                <c:ptCount val="1"/>
                <c:pt idx="0">
                  <c:v>Account_id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Sheet7!$A$2:$A$6</c:f>
              <c:numCache>
                <c:formatCode>General</c:formatCode>
                <c:ptCount val="5"/>
                <c:pt idx="0">
                  <c:v>1037</c:v>
                </c:pt>
                <c:pt idx="1">
                  <c:v>1142</c:v>
                </c:pt>
                <c:pt idx="2">
                  <c:v>1133</c:v>
                </c:pt>
                <c:pt idx="3">
                  <c:v>1022</c:v>
                </c:pt>
                <c:pt idx="4">
                  <c:v>1175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43-41D5-A9F4-B91DA207A775}"/>
            </c:ext>
          </c:extLst>
        </c:ser>
        <c:ser>
          <c:idx val="1"/>
          <c:order val="1"/>
          <c:tx>
            <c:strRef>
              <c:f>Sheet7!$B$1</c:f>
              <c:strCache>
                <c:ptCount val="1"/>
                <c:pt idx="0">
                  <c:v> Balance 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Sheet7!$B$2:$B$6</c:f>
              <c:numCache>
                <c:formatCode>_ [$₹-439]* #,##0.00_ ;_ [$₹-439]* \-#,##0.00_ ;_ [$₹-439]* "-"??_ ;_ @_ </c:formatCode>
                <c:ptCount val="5"/>
                <c:pt idx="0">
                  <c:v>424637.58</c:v>
                </c:pt>
                <c:pt idx="1">
                  <c:v>403470.07</c:v>
                </c:pt>
                <c:pt idx="2">
                  <c:v>390187.04</c:v>
                </c:pt>
                <c:pt idx="3">
                  <c:v>364857.2</c:v>
                </c:pt>
                <c:pt idx="4">
                  <c:v>316090.59999999899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43-41D5-A9F4-B91DA207A7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924334528"/>
        <c:axId val="46390176"/>
        <c:axId val="0"/>
      </c:bar3DChart>
      <c:catAx>
        <c:axId val="19243345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Account_id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390176"/>
        <c:crosses val="autoZero"/>
        <c:auto val="1"/>
        <c:lblAlgn val="ctr"/>
        <c:lblOffset val="100"/>
        <c:noMultiLvlLbl val="0"/>
      </c:catAx>
      <c:valAx>
        <c:axId val="4639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Balance</a:t>
                </a:r>
              </a:p>
            </c:rich>
          </c:tx>
          <c:layout>
            <c:manualLayout>
              <c:xMode val="edge"/>
              <c:yMode val="edge"/>
              <c:x val="3.262405217854468E-2"/>
              <c:y val="0.293065033537474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33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F7F22-9F13-4284-9087-D2D2865B7480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766BA-EAB8-4A3A-B94C-E9336686E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0417" y="1163762"/>
            <a:ext cx="7802218" cy="3161349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Bank Transaction Analysis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 [SOURABH  ARYA]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90" y="-339047"/>
            <a:ext cx="10152580" cy="1417833"/>
          </a:xfrm>
        </p:spPr>
        <p:txBody>
          <a:bodyPr anchor="ctr">
            <a:normAutofit fontScale="90000"/>
          </a:bodyPr>
          <a:lstStyle/>
          <a:p>
            <a:pPr lvl="0"/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</a:br>
            <a:r>
              <a:rPr lang="en-US" sz="3600" b="1" dirty="0">
                <a:solidFill>
                  <a:schemeClr val="accent3">
                    <a:lumMod val="50000"/>
                  </a:schemeClr>
                </a:solidFill>
                <a:latin typeface="Britannic Bold" panose="020B0903060703020204" pitchFamily="34" charset="0"/>
              </a:rPr>
              <a:t>This project analyzes bank transaction data to uncover:</a:t>
            </a:r>
            <a:br>
              <a:rPr lang="en-US" sz="4800" b="1" dirty="0">
                <a:solidFill>
                  <a:schemeClr val="accent3">
                    <a:lumMod val="50000"/>
                  </a:schemeClr>
                </a:solidFill>
              </a:rPr>
            </a:br>
            <a:br>
              <a:rPr lang="en-US" sz="4800" i="1" dirty="0">
                <a:solidFill>
                  <a:schemeClr val="accent3">
                    <a:lumMod val="50000"/>
                  </a:schemeClr>
                </a:solidFill>
                <a:highlight>
                  <a:srgbClr val="000080"/>
                </a:highlight>
              </a:rPr>
            </a:br>
            <a:r>
              <a:rPr lang="en-US" sz="4800" i="1" dirty="0">
                <a:solidFill>
                  <a:schemeClr val="tx1"/>
                </a:solidFill>
                <a:latin typeface="Berlin Sans FB" panose="020E0602020502020306" pitchFamily="34" charset="0"/>
              </a:rPr>
              <a:t>-</a:t>
            </a:r>
            <a:r>
              <a:rPr lang="en-US" sz="4800" i="1" dirty="0">
                <a:solidFill>
                  <a:srgbClr val="FFFFFF"/>
                </a:solidFill>
                <a:latin typeface="Berlin Sans FB" panose="020E0602020502020306" pitchFamily="34" charset="0"/>
              </a:rPr>
              <a:t> </a:t>
            </a:r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Transaction patterns</a:t>
            </a:r>
            <a:b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b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 Customer behavior</a:t>
            </a:r>
            <a:b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b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4800" dirty="0">
                <a:solidFill>
                  <a:schemeClr val="tx1"/>
                </a:solidFill>
                <a:latin typeface="Berlin Sans FB" panose="020E0602020502020306" pitchFamily="34" charset="0"/>
              </a:rPr>
              <a:t>- High-value transactions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4B6633-F061-018A-A054-695EFCCF3D0A}"/>
              </a:ext>
            </a:extLst>
          </p:cNvPr>
          <p:cNvSpPr txBox="1"/>
          <p:nvPr/>
        </p:nvSpPr>
        <p:spPr>
          <a:xfrm>
            <a:off x="1118171" y="139036"/>
            <a:ext cx="6544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ritannic Bold" panose="020B0903060703020204" pitchFamily="34" charset="0"/>
              </a:rPr>
              <a:t>Project Overview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83B71-802E-E21B-EDB5-E676A25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9"/>
            <a:ext cx="10058400" cy="1450757"/>
          </a:xfrm>
          <a:blipFill>
            <a:blip r:embed="rId2"/>
            <a:tile tx="0" ty="0" sx="100000" sy="100000" flip="none" algn="tl"/>
          </a:blipFill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b="1" dirty="0">
                <a:latin typeface="Bodoni MT Black" panose="02070A03080606020203" pitchFamily="18" charset="0"/>
              </a:rPr>
              <a:t>Dataset Information:</a:t>
            </a:r>
            <a:br>
              <a:rPr lang="en-US" b="1" dirty="0">
                <a:latin typeface="Algerian" panose="04020705040A02060702" pitchFamily="82" charset="0"/>
              </a:rPr>
            </a:br>
            <a:br>
              <a:rPr lang="en-US" dirty="0"/>
            </a:br>
            <a:r>
              <a:rPr lang="en-US" sz="2200" b="1" dirty="0">
                <a:latin typeface="Arial Black" panose="020B0A04020102020204" pitchFamily="34" charset="0"/>
              </a:rPr>
              <a:t>The dataset contains the following field</a:t>
            </a: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6308B-F6EE-73A6-9C71-BAE777A68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73329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200" dirty="0">
                <a:latin typeface="Britannic Bold" panose="020B0903060703020204" pitchFamily="34" charset="0"/>
              </a:rPr>
              <a:t>- Transaction id</a:t>
            </a:r>
          </a:p>
          <a:p>
            <a:r>
              <a:rPr lang="en-US" sz="3200" dirty="0">
                <a:latin typeface="Britannic Bold" panose="020B0903060703020204" pitchFamily="34" charset="0"/>
              </a:rPr>
              <a:t>- Account id</a:t>
            </a:r>
          </a:p>
          <a:p>
            <a:r>
              <a:rPr lang="en-US" sz="3200" dirty="0">
                <a:latin typeface="Britannic Bold" panose="020B0903060703020204" pitchFamily="34" charset="0"/>
              </a:rPr>
              <a:t>- Amount</a:t>
            </a:r>
          </a:p>
          <a:p>
            <a:r>
              <a:rPr lang="en-US" sz="3200" dirty="0">
                <a:latin typeface="Britannic Bold" panose="020B0903060703020204" pitchFamily="34" charset="0"/>
              </a:rPr>
              <a:t>- Transaction type</a:t>
            </a:r>
          </a:p>
          <a:p>
            <a:r>
              <a:rPr lang="en-US" sz="3200" dirty="0">
                <a:latin typeface="Britannic Bold" panose="020B0903060703020204" pitchFamily="34" charset="0"/>
              </a:rPr>
              <a:t>- City</a:t>
            </a:r>
          </a:p>
          <a:p>
            <a:r>
              <a:rPr lang="en-US" sz="3200" dirty="0">
                <a:latin typeface="Britannic Bold" panose="020B0903060703020204" pitchFamily="34" charset="0"/>
              </a:rPr>
              <a:t>- Transaction date</a:t>
            </a:r>
          </a:p>
        </p:txBody>
      </p:sp>
    </p:spTree>
    <p:extLst>
      <p:ext uri="{BB962C8B-B14F-4D97-AF65-F5344CB8AC3E}">
        <p14:creationId xmlns:p14="http://schemas.microsoft.com/office/powerpoint/2010/main" val="350775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EEC7-AD38-3885-0286-6EAF1DA4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0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dirty="0"/>
              <a:t>Overall Transaction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38285-1605-DA73-8953-A4D254813E6A}"/>
              </a:ext>
            </a:extLst>
          </p:cNvPr>
          <p:cNvSpPr txBox="1"/>
          <p:nvPr/>
        </p:nvSpPr>
        <p:spPr>
          <a:xfrm>
            <a:off x="1137920" y="2186077"/>
            <a:ext cx="10769600" cy="1938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Total Transactions: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1,500</a:t>
            </a:r>
            <a:r>
              <a:rPr lang="en-US" sz="20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Total Amount: </a:t>
            </a:r>
            <a:r>
              <a:rPr lang="en-US" sz="2000" dirty="0"/>
              <a:t>₹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74,509,993</a:t>
            </a:r>
            <a:endParaRPr lang="en-US" sz="2000" b="1" dirty="0"/>
          </a:p>
          <a:p>
            <a:endParaRPr lang="en-US" sz="2400" dirty="0"/>
          </a:p>
          <a:p>
            <a:r>
              <a:rPr lang="en-US" sz="2400" dirty="0"/>
              <a:t>The dataset contains a high volume of transactions with significant total value.</a:t>
            </a:r>
          </a:p>
        </p:txBody>
      </p:sp>
    </p:spTree>
    <p:extLst>
      <p:ext uri="{BB962C8B-B14F-4D97-AF65-F5344CB8AC3E}">
        <p14:creationId xmlns:p14="http://schemas.microsoft.com/office/powerpoint/2010/main" val="379193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9545-76F9-39B9-883C-A1F4EA45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01" y="173587"/>
            <a:ext cx="10058400" cy="1450757"/>
          </a:xfrm>
        </p:spPr>
        <p:txBody>
          <a:bodyPr/>
          <a:lstStyle/>
          <a:p>
            <a:r>
              <a:rPr lang="en-US" dirty="0"/>
              <a:t>Credit vs Debit Distribution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525CBAB-0702-B446-6282-0789D9E9B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741854"/>
              </p:ext>
            </p:extLst>
          </p:nvPr>
        </p:nvGraphicFramePr>
        <p:xfrm>
          <a:off x="1729483" y="2075381"/>
          <a:ext cx="8733034" cy="3369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2BCE5C-5997-C537-E64D-18A63FC03895}"/>
              </a:ext>
            </a:extLst>
          </p:cNvPr>
          <p:cNvSpPr txBox="1"/>
          <p:nvPr/>
        </p:nvSpPr>
        <p:spPr>
          <a:xfrm>
            <a:off x="2416482" y="5811488"/>
            <a:ext cx="977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 transactions are slightly higher than debit transactions (52% vs 48%).</a:t>
            </a:r>
          </a:p>
        </p:txBody>
      </p:sp>
    </p:spTree>
    <p:extLst>
      <p:ext uri="{BB962C8B-B14F-4D97-AF65-F5344CB8AC3E}">
        <p14:creationId xmlns:p14="http://schemas.microsoft.com/office/powerpoint/2010/main" val="79152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AF0C5D-BEE6-AFD5-4F58-17DB7F58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210" y="288235"/>
            <a:ext cx="10058400" cy="1450757"/>
          </a:xfrm>
        </p:spPr>
        <p:txBody>
          <a:bodyPr/>
          <a:lstStyle/>
          <a:p>
            <a:r>
              <a:rPr lang="en-US" dirty="0"/>
              <a:t>City-wise Transaction Analysis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7C8CDEB-9AD1-0116-7B3C-6B440F0D3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475278"/>
              </p:ext>
            </p:extLst>
          </p:nvPr>
        </p:nvGraphicFramePr>
        <p:xfrm>
          <a:off x="1176476" y="2058504"/>
          <a:ext cx="10058399" cy="3507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B07F1D4-4464-CF42-B4B8-C5A7C9D1331B}"/>
              </a:ext>
            </a:extLst>
          </p:cNvPr>
          <p:cNvSpPr txBox="1"/>
          <p:nvPr/>
        </p:nvSpPr>
        <p:spPr>
          <a:xfrm>
            <a:off x="604697" y="5885425"/>
            <a:ext cx="12623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Insights:- Certain cities have higher transaction counts and total amounts, indicating strong financial activity.</a:t>
            </a:r>
          </a:p>
        </p:txBody>
      </p:sp>
    </p:spTree>
    <p:extLst>
      <p:ext uri="{BB962C8B-B14F-4D97-AF65-F5344CB8AC3E}">
        <p14:creationId xmlns:p14="http://schemas.microsoft.com/office/powerpoint/2010/main" val="351278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2384-0E8A-E67C-238E-45400F23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Account Balance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CF1AF65-AFFA-287B-2D1B-CF8F2C0A3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327881"/>
              </p:ext>
            </p:extLst>
          </p:nvPr>
        </p:nvGraphicFramePr>
        <p:xfrm>
          <a:off x="2047462" y="2047462"/>
          <a:ext cx="7583555" cy="2951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361169-96E6-8677-EB66-586190ACC4F8}"/>
              </a:ext>
            </a:extLst>
          </p:cNvPr>
          <p:cNvSpPr txBox="1"/>
          <p:nvPr/>
        </p:nvSpPr>
        <p:spPr>
          <a:xfrm>
            <a:off x="901148" y="5196236"/>
            <a:ext cx="11290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Description:- This analysis calculates the net balance of each account by considering credit and debit transactions.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4C270-0D32-4261-199E-9009E8341E37}"/>
              </a:ext>
            </a:extLst>
          </p:cNvPr>
          <p:cNvSpPr txBox="1"/>
          <p:nvPr/>
        </p:nvSpPr>
        <p:spPr>
          <a:xfrm>
            <a:off x="1419622" y="5756700"/>
            <a:ext cx="134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Insights:- Some accounts show negative balances, indicating higher debit transactions than credits.</a:t>
            </a:r>
          </a:p>
        </p:txBody>
      </p:sp>
    </p:spTree>
    <p:extLst>
      <p:ext uri="{BB962C8B-B14F-4D97-AF65-F5344CB8AC3E}">
        <p14:creationId xmlns:p14="http://schemas.microsoft.com/office/powerpoint/2010/main" val="70447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8525-5D2D-7B15-FE35-8589D9B6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Top 5 Customers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DB78345-5D13-342D-5024-DAA3A08116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178869"/>
              </p:ext>
            </p:extLst>
          </p:nvPr>
        </p:nvGraphicFramePr>
        <p:xfrm>
          <a:off x="2501468" y="2067339"/>
          <a:ext cx="7189063" cy="3488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809B22-1D61-2893-8FF0-93C387B73BF1}"/>
              </a:ext>
            </a:extLst>
          </p:cNvPr>
          <p:cNvSpPr txBox="1"/>
          <p:nvPr/>
        </p:nvSpPr>
        <p:spPr>
          <a:xfrm>
            <a:off x="218659" y="5657353"/>
            <a:ext cx="1226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Insight:- These top 5 customers have the highest net balances due to consistently high-value credit transactions and relatively fewer debits.</a:t>
            </a:r>
          </a:p>
        </p:txBody>
      </p:sp>
    </p:spTree>
    <p:extLst>
      <p:ext uri="{BB962C8B-B14F-4D97-AF65-F5344CB8AC3E}">
        <p14:creationId xmlns:p14="http://schemas.microsoft.com/office/powerpoint/2010/main" val="86990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768E-41E1-DD55-A2F5-73ECECC6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696" y="-10587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High-Value Transactions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D7C26-69CA-B346-42B3-4A8E4EA8EE4A}"/>
              </a:ext>
            </a:extLst>
          </p:cNvPr>
          <p:cNvSpPr txBox="1"/>
          <p:nvPr/>
        </p:nvSpPr>
        <p:spPr>
          <a:xfrm>
            <a:off x="2097156" y="5516217"/>
            <a:ext cx="8863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Description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:-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This analysis highlights high-value debit transactions exceeding ₹50,000.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2D390-D122-F14A-5FED-F8C96E7F652A}"/>
              </a:ext>
            </a:extLst>
          </p:cNvPr>
          <p:cNvSpPr txBox="1"/>
          <p:nvPr/>
        </p:nvSpPr>
        <p:spPr>
          <a:xfrm>
            <a:off x="2097156" y="5966215"/>
            <a:ext cx="9611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Insight:- High-value debit transactions indicate large expenditures and may require monitoring.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C91412-228E-9158-1495-11677C2A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475" y="2041245"/>
            <a:ext cx="7857377" cy="317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3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FD3B-367F-12B9-7E53-865EF723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0709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Transaction Trend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673C09-412C-E850-1E53-CCD1894A1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47" y="2004633"/>
            <a:ext cx="6641549" cy="4177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0545A8-F1C0-BC01-B500-D127531BCEB8}"/>
              </a:ext>
            </a:extLst>
          </p:cNvPr>
          <p:cNvSpPr txBox="1"/>
          <p:nvPr/>
        </p:nvSpPr>
        <p:spPr>
          <a:xfrm>
            <a:off x="280504" y="2216425"/>
            <a:ext cx="5039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Description:- This analysis shows how transaction amounts vary across different months.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70B03-0C19-8A41-A94E-63D36E2D6D2A}"/>
              </a:ext>
            </a:extLst>
          </p:cNvPr>
          <p:cNvSpPr txBox="1"/>
          <p:nvPr/>
        </p:nvSpPr>
        <p:spPr>
          <a:xfrm>
            <a:off x="131417" y="3800104"/>
            <a:ext cx="513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Insight:- Transaction activity peaks around mid-year and gradually declines towards the end of the year, indicating seasonal behavior.</a:t>
            </a:r>
          </a:p>
        </p:txBody>
      </p:sp>
    </p:spTree>
    <p:extLst>
      <p:ext uri="{BB962C8B-B14F-4D97-AF65-F5344CB8AC3E}">
        <p14:creationId xmlns:p14="http://schemas.microsoft.com/office/powerpoint/2010/main" val="4221015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C38C3-98BE-9FF1-EF06-55805E224D07}"/>
              </a:ext>
            </a:extLst>
          </p:cNvPr>
          <p:cNvSpPr txBox="1"/>
          <p:nvPr/>
        </p:nvSpPr>
        <p:spPr>
          <a:xfrm>
            <a:off x="82826" y="34406"/>
            <a:ext cx="104427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u="sng" dirty="0">
                <a:solidFill>
                  <a:srgbClr val="002060"/>
                </a:solidFill>
                <a:latin typeface="Bahnschrift" panose="020B0502040204020203" pitchFamily="34" charset="0"/>
              </a:rPr>
              <a:t>Highest Transaction by 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EDBAA-D537-BEEC-B757-8FECF6CA5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61" y="865403"/>
            <a:ext cx="8547652" cy="4332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B3CF8-D413-A6C0-7401-96C3DEA4EF79}"/>
              </a:ext>
            </a:extLst>
          </p:cNvPr>
          <p:cNvSpPr txBox="1"/>
          <p:nvPr/>
        </p:nvSpPr>
        <p:spPr>
          <a:xfrm>
            <a:off x="2305878" y="5327374"/>
            <a:ext cx="839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Description:- This analysis identifies the highest transaction recorded in each city.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DB434-C1BF-16B2-8943-736C3D0F340B}"/>
              </a:ext>
            </a:extLst>
          </p:cNvPr>
          <p:cNvSpPr txBox="1"/>
          <p:nvPr/>
        </p:nvSpPr>
        <p:spPr>
          <a:xfrm>
            <a:off x="728869" y="5825697"/>
            <a:ext cx="12331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Insight:- Some cities have significantly higher peak transactions, indicating higher financial activity and large-value operations.</a:t>
            </a:r>
          </a:p>
        </p:txBody>
      </p:sp>
    </p:spTree>
    <p:extLst>
      <p:ext uri="{BB962C8B-B14F-4D97-AF65-F5344CB8AC3E}">
        <p14:creationId xmlns:p14="http://schemas.microsoft.com/office/powerpoint/2010/main" val="29973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61F-BC93-7C91-78D6-69133161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254" y="236907"/>
            <a:ext cx="10058400" cy="1450757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Top 3 Transactions per City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CD0DBC-5FDF-D318-D20B-4D7BF5231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19026"/>
              </p:ext>
            </p:extLst>
          </p:nvPr>
        </p:nvGraphicFramePr>
        <p:xfrm>
          <a:off x="606287" y="2025595"/>
          <a:ext cx="6639340" cy="4089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7657">
                  <a:extLst>
                    <a:ext uri="{9D8B030D-6E8A-4147-A177-3AD203B41FA5}">
                      <a16:colId xmlns:a16="http://schemas.microsoft.com/office/drawing/2014/main" val="806065168"/>
                    </a:ext>
                  </a:extLst>
                </a:gridCol>
                <a:gridCol w="2270448">
                  <a:extLst>
                    <a:ext uri="{9D8B030D-6E8A-4147-A177-3AD203B41FA5}">
                      <a16:colId xmlns:a16="http://schemas.microsoft.com/office/drawing/2014/main" val="2331263351"/>
                    </a:ext>
                  </a:extLst>
                </a:gridCol>
                <a:gridCol w="1651235">
                  <a:extLst>
                    <a:ext uri="{9D8B030D-6E8A-4147-A177-3AD203B41FA5}">
                      <a16:colId xmlns:a16="http://schemas.microsoft.com/office/drawing/2014/main" val="1415802740"/>
                    </a:ext>
                  </a:extLst>
                </a:gridCol>
              </a:tblGrid>
              <a:tr h="237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City</a:t>
                      </a: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Amount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99764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Bangalore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₹    99,954.26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19855360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Bangalore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99,389.91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0297614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Bangalore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99,308.03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03487175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Chennai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₹    98,998.31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85664231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Chennai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98,703.11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14913089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Chennai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96,988.65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6001195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Delhi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99,320.09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50511153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Delhi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99,315.50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91390008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Delhi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99,159.89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77591589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Hyderabad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99,839.64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08428707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Hyderabad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99,386.93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1966272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Hyderabad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99,163.66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78019873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Mumbai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99,730.32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9968657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Mumbai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99,330.23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65578663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Mumbai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99,266.70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6098048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Pune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99,877.96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3198460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Pune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99,324.48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0274509"/>
                  </a:ext>
                </a:extLst>
              </a:tr>
              <a:tr h="213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Pune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</a:rPr>
                        <a:t> ₹    98,936.94 </a:t>
                      </a: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206679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258740-EB52-796E-DB2C-D06C5B6E8168}"/>
              </a:ext>
            </a:extLst>
          </p:cNvPr>
          <p:cNvSpPr txBox="1"/>
          <p:nvPr/>
        </p:nvSpPr>
        <p:spPr>
          <a:xfrm>
            <a:off x="7543532" y="2455300"/>
            <a:ext cx="4405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Description:- This analysis identifies the top 3 highest transactions in each city.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2AAE9-392C-736F-BDB0-7C8E440BE638}"/>
              </a:ext>
            </a:extLst>
          </p:cNvPr>
          <p:cNvSpPr txBox="1"/>
          <p:nvPr/>
        </p:nvSpPr>
        <p:spPr>
          <a:xfrm>
            <a:off x="7543532" y="3869267"/>
            <a:ext cx="4830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Insight:- Top transactions highlight major financial activities and high-value spending patterns across different cities.</a:t>
            </a:r>
          </a:p>
        </p:txBody>
      </p:sp>
    </p:spTree>
    <p:extLst>
      <p:ext uri="{BB962C8B-B14F-4D97-AF65-F5344CB8AC3E}">
        <p14:creationId xmlns:p14="http://schemas.microsoft.com/office/powerpoint/2010/main" val="302563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43F6-F718-918D-C2EA-3CCC138B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9" y="40932"/>
            <a:ext cx="10058400" cy="145075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Key Insights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19C53-54E7-CC0A-2BE9-1FE6949DA711}"/>
              </a:ext>
            </a:extLst>
          </p:cNvPr>
          <p:cNvSpPr txBox="1"/>
          <p:nvPr/>
        </p:nvSpPr>
        <p:spPr>
          <a:xfrm>
            <a:off x="1073426" y="1888436"/>
            <a:ext cx="102969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Total transactions show a high volume of financial activity in the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Credit and Debit transactions are relatively balanced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Some cities contribute more to total transaction value, indicating higher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High-value transactions highlight major financial movements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Monthly trends show fluctuations, suggesting seasonal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- Top transactions per city reveal key spending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BDBB0-0DBA-9A59-F3A2-6CA9147C5B69}"/>
              </a:ext>
            </a:extLst>
          </p:cNvPr>
          <p:cNvSpPr txBox="1"/>
          <p:nvPr/>
        </p:nvSpPr>
        <p:spPr>
          <a:xfrm>
            <a:off x="569181" y="5586961"/>
            <a:ext cx="11622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Aptos" panose="020B0004020202020204" pitchFamily="34" charset="0"/>
              </a:rPr>
              <a:t>This analysis helps in understanding customer behavior and financial trends, which can support better decision-making in banking systems.</a:t>
            </a:r>
          </a:p>
        </p:txBody>
      </p:sp>
    </p:spTree>
    <p:extLst>
      <p:ext uri="{BB962C8B-B14F-4D97-AF65-F5344CB8AC3E}">
        <p14:creationId xmlns:p14="http://schemas.microsoft.com/office/powerpoint/2010/main" val="8669464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{B82104D9-EF76-4EA1-9709-CAC4C811268B}TFf0a5ceae-4542-492d-822e-d65a94fb0e1e3b562c5a_win32-009a0557e699</Template>
  <TotalTime>617</TotalTime>
  <Words>548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Algerian</vt:lpstr>
      <vt:lpstr>Aptos</vt:lpstr>
      <vt:lpstr>Aptos Narrow</vt:lpstr>
      <vt:lpstr>Arial</vt:lpstr>
      <vt:lpstr>Arial Black</vt:lpstr>
      <vt:lpstr>Bahnschrift</vt:lpstr>
      <vt:lpstr>Berlin Sans FB</vt:lpstr>
      <vt:lpstr>Bodoni MT Black</vt:lpstr>
      <vt:lpstr>Bookman Old Style</vt:lpstr>
      <vt:lpstr>Britannic Bold</vt:lpstr>
      <vt:lpstr>Calibri</vt:lpstr>
      <vt:lpstr>Cambria</vt:lpstr>
      <vt:lpstr>Franklin Gothic Book</vt:lpstr>
      <vt:lpstr>Custom</vt:lpstr>
      <vt:lpstr>Bank Transaction Analysis System</vt:lpstr>
      <vt:lpstr>         This project analyzes bank transaction data to uncover:  - Transaction patterns  - Customer behavior  - High-value transactions</vt:lpstr>
      <vt:lpstr>             Dataset Information:  The dataset contains the following field</vt:lpstr>
      <vt:lpstr>Overall Transaction Summary</vt:lpstr>
      <vt:lpstr>Credit vs Debit Distribution</vt:lpstr>
      <vt:lpstr>City-wise Transaction Analysis</vt:lpstr>
      <vt:lpstr>Account Balance Analysis</vt:lpstr>
      <vt:lpstr>Top 5 Customers</vt:lpstr>
      <vt:lpstr>High-Value Transactions Analysis</vt:lpstr>
      <vt:lpstr>Monthly Transaction Trend</vt:lpstr>
      <vt:lpstr>PowerPoint Presentation</vt:lpstr>
      <vt:lpstr>Top 3 Transactions per City</vt:lpstr>
      <vt:lpstr>Key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sourabharya202@gmail.com</dc:creator>
  <cp:lastModifiedBy>sourabharya202@gmail.com</cp:lastModifiedBy>
  <cp:revision>3</cp:revision>
  <dcterms:created xsi:type="dcterms:W3CDTF">2026-03-24T05:03:54Z</dcterms:created>
  <dcterms:modified xsi:type="dcterms:W3CDTF">2026-03-26T08:12:50Z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